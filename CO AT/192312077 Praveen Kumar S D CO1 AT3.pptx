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04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503920" y="-914400"/>
            <a:ext cx="5486400" cy="86868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1005840"/>
            <a:ext cx="4206240" cy="420624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1737360"/>
            <a:ext cx="2743200" cy="2743200"/>
          </a:xfrm>
          <a:prstGeom prst="ellipse">
            <a:avLst/>
          </a:prstGeom>
          <a:ln w="1587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2514600"/>
            <a:ext cx="1188720" cy="1188720"/>
          </a:xfrm>
          <a:prstGeom prst="ellipse">
            <a:avLst/>
          </a:prstGeom>
          <a:solidFill>
            <a:srgbClr val="CADCFC">
              <a:alpha val="15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0" y="1005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3564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CONCEPT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Spaces &amp;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Elimination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learner narrows an entire hypothesis space down to exactly the concepts consistent with the training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349240"/>
            <a:ext cx="914400" cy="0"/>
          </a:xfrm>
          <a:prstGeom prst="line">
            <a:avLst/>
          </a:prstGeom>
          <a:noFill/>
          <a:ln w="25400">
            <a:solidFill>
              <a:srgbClr val="5A6B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532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Specific Boundary      G — General Boundary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Version Space?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087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space H  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of candidate hypotheses defined by the chosen representation language.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4688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D  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labeled instances — each marked positive (+) or negative (−).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4290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 VS(H,D)  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subset of H that classifies every example in D correctly — i.e. is consistent with 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5354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3891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represents ALL surviving hypotheses  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“best guess” — every hypothesis still compatible with the evidence so far.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→  VS(H, 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82880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Space  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03720" y="23317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 the representation can express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3200400"/>
            <a:ext cx="2331720" cy="10515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9144000" y="3200400"/>
            <a:ext cx="2331720" cy="10515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425196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4407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VS(H, 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473659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consistent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of 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6404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with 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General-to-Specific Ordering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form a partial order by generality: h</a:t>
            </a:r>
            <a:r>
              <a:rPr lang="en-US" sz="1350" baseline="-400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more general than h</a:t>
            </a:r>
            <a:r>
              <a:rPr lang="en-US" sz="1350" baseline="-400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every instance h</a:t>
            </a:r>
            <a:r>
              <a:rPr lang="en-US" sz="1350" baseline="-400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classifies positive is also classified positive by h</a:t>
            </a:r>
            <a:r>
              <a:rPr lang="en-US" sz="1350" baseline="-400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35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15875">
            <a:solidFill>
              <a:srgbClr val="1F9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48716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care”  —  </a:t>
            </a: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accepted — most general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2724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1455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Sunny  —  </a:t>
            </a: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one attribute exactly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8561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80390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value”  —  </a:t>
            </a: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every instance — most specific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partial order is what lets Candidate-Elimination summarize a huge version space with just two small boundary sets, instead of listing every hypothesis.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141732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general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0" y="5532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F9C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 ?, ?, ?, ? 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H="1">
            <a:off x="8138160" y="2286000"/>
            <a:ext cx="548640" cy="777240"/>
          </a:xfrm>
          <a:prstGeom prst="line">
            <a:avLst/>
          </a:prstGeom>
          <a:noFill/>
          <a:ln w="12700">
            <a:solidFill>
              <a:srgbClr val="6E719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286000"/>
            <a:ext cx="548640" cy="777240"/>
          </a:xfrm>
          <a:prstGeom prst="line">
            <a:avLst/>
          </a:prstGeom>
          <a:noFill/>
          <a:ln w="12700">
            <a:solidFill>
              <a:srgbClr val="6E719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3063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 Sunny, ?, ?, ? 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64040" y="306324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3063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 ?, Warm, ?, ? 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0" y="3566160"/>
            <a:ext cx="457200" cy="685800"/>
          </a:xfrm>
          <a:prstGeom prst="line">
            <a:avLst/>
          </a:prstGeom>
          <a:noFill/>
          <a:ln w="12700">
            <a:solidFill>
              <a:srgbClr val="6E719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9966960" y="3566160"/>
            <a:ext cx="457200" cy="685800"/>
          </a:xfrm>
          <a:prstGeom prst="line">
            <a:avLst/>
          </a:prstGeom>
          <a:noFill/>
          <a:ln w="12700">
            <a:solidFill>
              <a:srgbClr val="6E719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4251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 ∅, ∅, ∅, ∅ 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Candidate-Elimination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enumerating every hypothesis in VS(H,D), the algorithm tracks only its two boundary sets — and lets them bracket everything in between.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73373"/>
          </a:solidFill>
          <a:ln w="12700">
            <a:solidFill>
              <a:srgbClr val="465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—  General Boundary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general hypotheses still consistent with the data. Upper edge of the version space.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G₀ = { ⟨ ?, ?, …, ? ⟩ 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273373"/>
          </a:solidFill>
          <a:ln w="12700">
            <a:solidFill>
              <a:srgbClr val="4650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—  Specific Boundary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788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specific hypotheses still consistent with the data. Lower edge of the version space.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S₀ = { ⟨ ∅, ∅, …, ∅ ⟩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VS(H, D)  =  { h ∈ H  |  S ≤ h ≤ G 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80160" y="4846320"/>
            <a:ext cx="9601200" cy="822960"/>
          </a:xfrm>
          <a:prstGeom prst="roundRect">
            <a:avLst>
              <a:gd name="adj" fmla="val 50000"/>
            </a:avLst>
          </a:prstGeom>
          <a:solidFill>
            <a:srgbClr val="141B4D"/>
          </a:solidFill>
          <a:ln w="12700">
            <a:solidFill>
              <a:srgbClr val="3E4A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846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(general)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4846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 consistent with the data seen so far lies between S and 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(specific)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Boundary — 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9C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270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maximally specific hypotheses in H consistent with the training data seen so far.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9C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of S covers only the positive examples observed — the tightest possible generalization.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9C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447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lower bound of the version space — nothing more specific remains consistent.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F9C6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4074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minimally, and only when a new positive example forces it to expand.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Space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2194560" cy="1828800"/>
          </a:xfrm>
          <a:prstGeom prst="ellipse">
            <a:avLst/>
          </a:prstGeom>
          <a:solidFill>
            <a:srgbClr val="1F9C6E">
              <a:alpha val="20000"/>
            </a:srgbClr>
          </a:solidFill>
          <a:ln w="25400">
            <a:solidFill>
              <a:srgbClr val="1F9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3383280"/>
            <a:ext cx="146304" cy="146304"/>
          </a:xfrm>
          <a:prstGeom prst="ellipse">
            <a:avLst/>
          </a:prstGeom>
          <a:solidFill>
            <a:srgbClr val="1F9C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3840480"/>
            <a:ext cx="146304" cy="146304"/>
          </a:xfrm>
          <a:prstGeom prst="ellipse">
            <a:avLst/>
          </a:prstGeom>
          <a:solidFill>
            <a:srgbClr val="1F9C6E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3291840"/>
            <a:ext cx="146304" cy="146304"/>
          </a:xfrm>
          <a:prstGeom prst="ellipse">
            <a:avLst/>
          </a:prstGeom>
          <a:solidFill>
            <a:srgbClr val="1F9C6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484632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223760" y="484632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0" y="219456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607040" y="219456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89920" y="502920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789920" y="502920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257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covers exactly the observed positives — nothing broader.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Boundary — 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270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maximally general hypotheses in H consistent with the training data seen so far.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of G excludes every negative example observed — the loosest safe generalization.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447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upper bound of the version space — nothing more general remains consistent.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4074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minimally, and only when a new negative example forces it to shrink.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Space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2240280"/>
            <a:ext cx="4023360" cy="3108960"/>
          </a:xfrm>
          <a:prstGeom prst="ellipse">
            <a:avLst/>
          </a:prstGeom>
          <a:solidFill>
            <a:srgbClr val="C0392B">
              <a:alpha val="12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3657600"/>
            <a:ext cx="146304" cy="146304"/>
          </a:xfrm>
          <a:prstGeom prst="ellipse">
            <a:avLst/>
          </a:prstGeom>
          <a:solidFill>
            <a:srgbClr val="1F9C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4023360"/>
            <a:ext cx="146304" cy="146304"/>
          </a:xfrm>
          <a:prstGeom prst="ellipse">
            <a:avLst/>
          </a:prstGeom>
          <a:solidFill>
            <a:srgbClr val="1F9C6E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502920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315200" y="502920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246888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881360" y="2468880"/>
            <a:ext cx="164592" cy="16459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5257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stays as broad as possible while still excluding every negative.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UPDATE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the Boundaries per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0FAF5"/>
          </a:solidFill>
          <a:ln w="15875">
            <a:solidFill>
              <a:srgbClr val="1F9C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1F9C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" cy="320040"/>
          </a:xfrm>
          <a:prstGeom prst="rect">
            <a:avLst/>
          </a:prstGeom>
          <a:solidFill>
            <a:srgbClr val="1F9C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5973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that fails to cover this example.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320040" cy="320040"/>
          </a:xfrm>
          <a:prstGeom prst="rect">
            <a:avLst/>
          </a:prstGeom>
          <a:solidFill>
            <a:srgbClr val="1F9C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3558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each hypothesis in S just enough to cover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06824"/>
            <a:ext cx="320040" cy="320040"/>
          </a:xfrm>
          <a:prstGeom prst="rect">
            <a:avLst/>
          </a:prstGeom>
          <a:solidFill>
            <a:srgbClr val="1F9C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2519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more general than another member of 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202936"/>
            <a:ext cx="320040" cy="320040"/>
          </a:xfrm>
          <a:prstGeom prst="rect">
            <a:avLst/>
          </a:prstGeom>
          <a:solidFill>
            <a:srgbClr val="1F9C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514807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not consistent with some member of 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DF2F1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87452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874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NEGATIVE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37960" y="2514600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45973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 any hypothesis that incorrectly covers this example.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410712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3558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each hypothesis in G just enough to exclude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306824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42519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more specific than another member of 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202936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514807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3E4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G any hypothesis not consistent with some member of 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CONVERGENCE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73373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(shrinks)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15087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73373"/>
          </a:solidFill>
          <a:ln w="15875">
            <a:solidFill>
              <a:srgbClr val="1F9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(grows)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764792"/>
            <a:ext cx="26517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6309360" y="1764792"/>
            <a:ext cx="2560320" cy="0"/>
          </a:xfrm>
          <a:prstGeom prst="line">
            <a:avLst/>
          </a:prstGeom>
          <a:noFill/>
          <a:ln w="19050">
            <a:solidFill>
              <a:srgbClr val="1F9C6E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39903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3990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G converge to a single hypothesis → the target concept is uniquely identified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E4A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924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convergence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75818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 is noise-free and H contains the true concept, S and G meet at exactly that hypothesis.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461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E4A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924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boundary ⇒ no fit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375818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or G becomes empty, no hypothesis in H is consistent — the representation is too restrictive, or data is noisy.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E4A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926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shrinkage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35838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VS(H,D) only ever shrinks as examples arrive — boundaries never need to backtrack.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48463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E4A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9926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by design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535838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space that could hold exponentially many hypotheses is captured by just two small sets, S and 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909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kumar</cp:lastModifiedBy>
  <cp:revision>1</cp:revision>
  <dcterms:created xsi:type="dcterms:W3CDTF">2026-08-01T03:19:09Z</dcterms:created>
  <dcterms:modified xsi:type="dcterms:W3CDTF">2026-08-01T03:33:12Z</dcterms:modified>
</cp:coreProperties>
</file>